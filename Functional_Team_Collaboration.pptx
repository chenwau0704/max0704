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12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BFD8EF"/>
                </a:solidFill>
                <a:latin typeface="Calibri"/>
              </a:rPr>
              <a:t>EATON × TSMC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BFD8EF"/>
                </a:solidFill>
                <a:latin typeface="Calibri"/>
              </a:rPr>
              <a:t>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011680"/>
            <a:ext cx="73152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Functional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743200"/>
            <a:ext cx="73152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4A90D9"/>
                </a:solidFill>
                <a:latin typeface="Calibri"/>
              </a:rPr>
              <a:t>Collaboration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3703320"/>
            <a:ext cx="1371600" cy="54864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384048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0">
                <a:solidFill>
                  <a:srgbClr val="BFD8EF"/>
                </a:solidFill>
                <a:latin typeface="Calibri"/>
              </a:rPr>
              <a:t>One Goal — Delivering Excellence for TSMC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BFD8EF"/>
                </a:solidFill>
                <a:latin typeface="Calibri"/>
              </a:rPr>
              <a:t>© 2026 Eaton. All rights reserved.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0B2C5C"/>
                </a:solidFill>
                <a:latin typeface="Calibri"/>
              </a:rPr>
              <a:t>Our Shared Goal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F73"/>
                </a:solidFill>
                <a:latin typeface="Calibri"/>
              </a:rPr>
              <a:t>Aligning every function around a single customer outcome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1097280" cy="54864"/>
          </a:xfrm>
          <a:prstGeom prst="rect">
            <a:avLst/>
          </a:prstGeom>
          <a:solidFill>
            <a:srgbClr val="12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10881360" cy="1280160"/>
          </a:xfrm>
          <a:prstGeom prst="rect">
            <a:avLst/>
          </a:prstGeom>
          <a:solidFill>
            <a:srgbClr val="E9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/>
          <a:lstStyle/>
          <a:p>
            <a:pPr algn="ctr"/>
            <a:r>
              <a:rPr sz="3200" b="1">
                <a:solidFill>
                  <a:srgbClr val="0B2C5C"/>
                </a:solidFill>
              </a:rPr>
              <a:t>Delivering Excellence for TSMC</a:t>
            </a:r>
          </a:p>
          <a:p>
            <a:pPr algn="ctr"/>
            <a:r>
              <a:rPr sz="1600">
                <a:solidFill>
                  <a:srgbClr val="555F73"/>
                </a:solidFill>
              </a:rPr>
              <a:t>through cross-functional collaboration, global reach, and customer-centric execution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83280"/>
            <a:ext cx="3566160" cy="640080"/>
          </a:xfrm>
          <a:prstGeom prst="roundRect">
            <a:avLst/>
          </a:prstGeom>
          <a:solidFill>
            <a:srgbClr val="12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EXECUTION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14800"/>
            <a:ext cx="35661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555F73"/>
                </a:solidFill>
                <a:latin typeface="Calibri"/>
              </a:rPr>
              <a:t>Plan &amp; Manage · Deliver &amp; Execute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383280"/>
            <a:ext cx="3566160" cy="64008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CORE SUPPORT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4114800"/>
            <a:ext cx="35661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555F73"/>
                </a:solidFill>
                <a:latin typeface="Calibri"/>
              </a:rPr>
              <a:t>Enable &amp; Support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3383280"/>
            <a:ext cx="3566160" cy="640080"/>
          </a:xfrm>
          <a:prstGeom prst="round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BUSINESS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59" y="4114800"/>
            <a:ext cx="35661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555F73"/>
                </a:solidFill>
                <a:latin typeface="Calibri"/>
              </a:rPr>
              <a:t>Connect &amp; Serve · Create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0B2C5C"/>
                </a:solidFill>
                <a:latin typeface="Calibri"/>
              </a:rPr>
              <a:t>Agenda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285232"/>
            <a:ext cx="731520" cy="36576"/>
          </a:xfrm>
          <a:prstGeom prst="rect">
            <a:avLst/>
          </a:prstGeom>
          <a:solidFill>
            <a:srgbClr val="12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4406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1.  Three Pillars of Collaboration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54406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2.  Project Core Team &amp; Surrounding Functions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3.  Global Collaboration Network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580644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4.  Operating Principles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555F73"/>
                </a:solidFill>
                <a:latin typeface="Calibri"/>
              </a:rPr>
              <a:t>© 2026 Eaton. All rights reserved.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0B2C5C"/>
                </a:solidFill>
                <a:latin typeface="Calibri"/>
              </a:rPr>
              <a:t>Three Pillars of Collaboration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F73"/>
                </a:solidFill>
                <a:latin typeface="Calibri"/>
              </a:rPr>
              <a:t>How every team contributes to the shared goal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1097280" cy="54864"/>
          </a:xfrm>
          <a:prstGeom prst="rect">
            <a:avLst/>
          </a:prstGeom>
          <a:solidFill>
            <a:srgbClr val="12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3749039" cy="502920"/>
          </a:xfrm>
          <a:prstGeom prst="roundRect">
            <a:avLst/>
          </a:prstGeom>
          <a:solidFill>
            <a:srgbClr val="12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4028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555F73"/>
                </a:solidFill>
                <a:latin typeface="Calibri"/>
              </a:rPr>
              <a:t>Plan &amp; Manage  ·  Deliver &amp; Execute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3749039" cy="4206240"/>
          </a:xfrm>
          <a:prstGeom prst="rect">
            <a:avLst/>
          </a:prstGeom>
          <a:solidFill>
            <a:srgbClr val="E9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880360"/>
            <a:ext cx="329183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24A9C"/>
                </a:solidFill>
                <a:latin typeface="Calibri"/>
              </a:rPr>
              <a:t>Project Management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46120"/>
            <a:ext cx="3291839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Calibri"/>
              </a:rPr>
              <a:t>End-to-end planning, scheduling, risk control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023360"/>
            <a:ext cx="3291839" cy="9000"/>
          </a:xfrm>
          <a:prstGeom prst="rect">
            <a:avLst/>
          </a:prstGeom>
          <a:solidFill>
            <a:srgbClr val="BFD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206240"/>
            <a:ext cx="329183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24A9C"/>
                </a:solidFill>
                <a:latin typeface="Calibri"/>
              </a:rPr>
              <a:t>Factory Unit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72000"/>
            <a:ext cx="3291839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Calibri"/>
              </a:rPr>
              <a:t>Production readiness and on-site delivery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19" y="1691640"/>
            <a:ext cx="3749039" cy="50292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CORE SUPPORT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19" y="224028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555F73"/>
                </a:solidFill>
                <a:latin typeface="Calibri"/>
              </a:rPr>
              <a:t>Enable &amp; 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19" y="2651760"/>
            <a:ext cx="3749039" cy="4206240"/>
          </a:xfrm>
          <a:prstGeom prst="rect">
            <a:avLst/>
          </a:prstGeom>
          <a:solidFill>
            <a:srgbClr val="E9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19" y="2880360"/>
            <a:ext cx="329183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E6FB8"/>
                </a:solidFill>
                <a:latin typeface="Calibri"/>
              </a:rPr>
              <a:t>APAC R&amp;D Service 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19" y="3246120"/>
            <a:ext cx="3291839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Calibri"/>
              </a:rPr>
              <a:t>Engineering design and product enablement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7719" y="4023360"/>
            <a:ext cx="3291839" cy="9000"/>
          </a:xfrm>
          <a:prstGeom prst="rect">
            <a:avLst/>
          </a:prstGeom>
          <a:solidFill>
            <a:srgbClr val="BFD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19" y="4206240"/>
            <a:ext cx="329183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E6FB8"/>
                </a:solidFill>
                <a:latin typeface="Calibri"/>
              </a:rPr>
              <a:t>Technical Support 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19" y="4572000"/>
            <a:ext cx="3291839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Calibri"/>
              </a:rPr>
              <a:t>On-call expertise and troubleshooting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17719" y="5349240"/>
            <a:ext cx="3291839" cy="9000"/>
          </a:xfrm>
          <a:prstGeom prst="rect">
            <a:avLst/>
          </a:prstGeom>
          <a:solidFill>
            <a:srgbClr val="BFD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19" y="5532120"/>
            <a:ext cx="329183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E6FB8"/>
                </a:solidFill>
                <a:latin typeface="Calibri"/>
              </a:rPr>
              <a:t>SCM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19" y="5897880"/>
            <a:ext cx="3291839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Calibri"/>
              </a:rPr>
              <a:t>Supply continuity and material readiness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75318" y="1691640"/>
            <a:ext cx="3749039" cy="502920"/>
          </a:xfrm>
          <a:prstGeom prst="round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BUSINESS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8" y="224028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555F73"/>
                </a:solidFill>
                <a:latin typeface="Calibri"/>
              </a:rPr>
              <a:t>Connect &amp; Serve  ·  Create Customer Value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18" y="2651760"/>
            <a:ext cx="3749039" cy="4206240"/>
          </a:xfrm>
          <a:prstGeom prst="rect">
            <a:avLst/>
          </a:prstGeom>
          <a:solidFill>
            <a:srgbClr val="E9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18" y="2880360"/>
            <a:ext cx="329183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4A90D9"/>
                </a:solidFill>
                <a:latin typeface="Calibri"/>
              </a:rPr>
              <a:t>Customer Service Team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8" y="3246120"/>
            <a:ext cx="3291839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Calibri"/>
              </a:rPr>
              <a:t>Single point of contact for TSMC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03918" y="4023360"/>
            <a:ext cx="3291839" cy="9000"/>
          </a:xfrm>
          <a:prstGeom prst="rect">
            <a:avLst/>
          </a:prstGeom>
          <a:solidFill>
            <a:srgbClr val="BFD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18" y="4206240"/>
            <a:ext cx="329183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4A90D9"/>
                </a:solidFill>
                <a:latin typeface="Calibri"/>
              </a:rPr>
              <a:t>Sales Team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8" y="4572000"/>
            <a:ext cx="3291839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Calibri"/>
              </a:rPr>
              <a:t>Account growth and value creation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555F73"/>
                </a:solidFill>
                <a:latin typeface="Calibri"/>
              </a:rPr>
              <a:t>© 2026 Eaton. All rights reserved.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0B2C5C"/>
                </a:solidFill>
                <a:latin typeface="Calibri"/>
              </a:rPr>
              <a:t>TSMC Project Core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F73"/>
                </a:solidFill>
                <a:latin typeface="Calibri"/>
              </a:rPr>
              <a:t>Seven functions orbiting one customer mission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1097280" cy="54864"/>
          </a:xfrm>
          <a:prstGeom prst="rect">
            <a:avLst/>
          </a:prstGeom>
          <a:solidFill>
            <a:srgbClr val="12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901287" y="1828800"/>
            <a:ext cx="4389120" cy="4389120"/>
          </a:xfrm>
          <a:prstGeom prst="ellipse">
            <a:avLst/>
          </a:prstGeom>
          <a:solidFill>
            <a:srgbClr val="BFD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090007" y="3017520"/>
            <a:ext cx="2011680" cy="2011680"/>
          </a:xfrm>
          <a:prstGeom prst="ellipse">
            <a:avLst/>
          </a:prstGeom>
          <a:solidFill>
            <a:srgbClr val="124A9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TSMC</a:t>
            </a:r>
          </a:p>
          <a:p>
            <a:pPr algn="ctr"/>
            <a:r>
              <a:rPr sz="1200">
                <a:solidFill>
                  <a:srgbClr val="BFD8EF"/>
                </a:solidFill>
              </a:rPr>
              <a:t>Project Core Team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18607" y="937260"/>
            <a:ext cx="1554480" cy="77724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Project</a:t>
            </a:r>
          </a:p>
          <a:p>
            <a:pPr algn="ctr"/>
            <a:r>
              <a:rPr sz="1100" b="1">
                <a:solidFill>
                  <a:srgbClr val="FFFFFF"/>
                </a:solidFill>
              </a:rPr>
              <a:t>Management Team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27582" y="1952888"/>
            <a:ext cx="1554480" cy="777240"/>
          </a:xfrm>
          <a:prstGeom prst="round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APAC R&amp;D</a:t>
            </a:r>
          </a:p>
          <a:p>
            <a:pPr algn="ctr"/>
            <a:r>
              <a:rPr sz="1100" b="1">
                <a:solidFill>
                  <a:srgbClr val="FFFFFF"/>
                </a:solidFill>
              </a:rPr>
              <a:t>Service Team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48456" y="4234985"/>
            <a:ext cx="1554480" cy="77724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Technical</a:t>
            </a:r>
          </a:p>
          <a:p>
            <a:pPr algn="ctr"/>
            <a:r>
              <a:rPr sz="1100" b="1">
                <a:solidFill>
                  <a:srgbClr val="FFFFFF"/>
                </a:solidFill>
              </a:rPr>
              <a:t>Support 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89000" y="6065085"/>
            <a:ext cx="1554480" cy="777240"/>
          </a:xfrm>
          <a:prstGeom prst="round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Customer</a:t>
            </a:r>
          </a:p>
          <a:p>
            <a:pPr algn="ctr"/>
            <a:r>
              <a:rPr sz="1100" b="1">
                <a:solidFill>
                  <a:srgbClr val="FFFFFF"/>
                </a:solidFill>
              </a:rPr>
              <a:t>Service Team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48214" y="6065085"/>
            <a:ext cx="1554480" cy="77724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Sales</a:t>
            </a:r>
          </a:p>
          <a:p>
            <a:pPr algn="ctr"/>
            <a:r>
              <a:rPr sz="1100" b="1">
                <a:solidFill>
                  <a:srgbClr val="FFFFFF"/>
                </a:solidFill>
              </a:rPr>
              <a:t>Team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88758" y="4234985"/>
            <a:ext cx="1554480" cy="777240"/>
          </a:xfrm>
          <a:prstGeom prst="round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Factory</a:t>
            </a:r>
          </a:p>
          <a:p>
            <a:pPr algn="ctr"/>
            <a:r>
              <a:rPr sz="1100" b="1">
                <a:solidFill>
                  <a:srgbClr val="FFFFFF"/>
                </a:solidFill>
              </a:rPr>
              <a:t>Unit Team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9632" y="1952888"/>
            <a:ext cx="1554480" cy="77724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SCM</a:t>
            </a:r>
          </a:p>
          <a:p>
            <a:pPr algn="ctr"/>
            <a:r>
              <a:rPr sz="1100" b="1">
                <a:solidFill>
                  <a:srgbClr val="FFFFFF"/>
                </a:solidFill>
              </a:rPr>
              <a:t>Team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017520"/>
            <a:ext cx="1828800" cy="502920"/>
          </a:xfrm>
          <a:prstGeom prst="roundRect">
            <a:avLst/>
          </a:prstGeom>
          <a:solidFill>
            <a:srgbClr val="0B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EXECUTION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566160"/>
            <a:ext cx="1828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555F73"/>
                </a:solidFill>
                <a:latin typeface="Calibri"/>
              </a:rPr>
              <a:t>Plan &amp; Manage
Deliver &amp; Execute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97135" y="3017520"/>
            <a:ext cx="1828800" cy="502920"/>
          </a:xfrm>
          <a:prstGeom prst="round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BUSINESS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97135" y="3566160"/>
            <a:ext cx="1828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555F73"/>
                </a:solidFill>
                <a:latin typeface="Calibri"/>
              </a:rPr>
              <a:t>Connect &amp; Serve
Create Customer Value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1600200"/>
            <a:ext cx="2011680" cy="457200"/>
          </a:xfrm>
          <a:prstGeom prst="roundRect">
            <a:avLst/>
          </a:prstGeom>
          <a:solidFill>
            <a:srgbClr val="12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CORE SUPPORT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24247" y="205740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555F73"/>
                </a:solidFill>
                <a:latin typeface="Calibri"/>
              </a:rPr>
              <a:t>Enable &amp; 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555F73"/>
                </a:solidFill>
                <a:latin typeface="Calibri"/>
              </a:rPr>
              <a:t>© 2026 Eaton. All rights reserved.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0B2C5C"/>
                </a:solidFill>
                <a:latin typeface="Calibri"/>
              </a:rPr>
              <a:t>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F73"/>
                </a:solidFill>
                <a:latin typeface="Calibri"/>
              </a:rPr>
              <a:t>Plan &amp; Manage · Deliver &amp; Execute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1097280" cy="54864"/>
          </a:xfrm>
          <a:prstGeom prst="rect">
            <a:avLst/>
          </a:prstGeom>
          <a:solidFill>
            <a:srgbClr val="12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325880"/>
            <a:ext cx="12191695" cy="54864"/>
          </a:xfrm>
          <a:prstGeom prst="rect">
            <a:avLst/>
          </a:prstGeom>
          <a:solidFill>
            <a:srgbClr val="12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86687" y="1783080"/>
            <a:ext cx="4572000" cy="640080"/>
          </a:xfrm>
          <a:prstGeom prst="rect">
            <a:avLst/>
          </a:prstGeom>
          <a:solidFill>
            <a:srgbClr val="12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6687" y="187452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Project Management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86687" y="2423160"/>
            <a:ext cx="4572000" cy="3840480"/>
          </a:xfrm>
          <a:prstGeom prst="rect">
            <a:avLst/>
          </a:prstGeom>
          <a:solidFill>
            <a:srgbClr val="E9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15287" y="2606040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24A9C"/>
                </a:solidFill>
                <a:latin typeface="Calibri"/>
              </a:rPr>
              <a:t>Plan &amp; Manage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287" y="3108960"/>
            <a:ext cx="41148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 Owns master schedule and milestones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 Cross-functional coordination &amp; RACI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 Risk, change and issue management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 Single source of truth for status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783080"/>
            <a:ext cx="4572000" cy="640080"/>
          </a:xfrm>
          <a:prstGeom prst="rect">
            <a:avLst/>
          </a:prstGeom>
          <a:solidFill>
            <a:srgbClr val="12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187452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Factory Unit Team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2423160"/>
            <a:ext cx="4572000" cy="3840480"/>
          </a:xfrm>
          <a:prstGeom prst="rect">
            <a:avLst/>
          </a:prstGeom>
          <a:solidFill>
            <a:srgbClr val="E9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2606040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24A9C"/>
                </a:solidFill>
                <a:latin typeface="Calibri"/>
              </a:rPr>
              <a:t>Deliver &amp; Execute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3108960"/>
            <a:ext cx="41148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 Production readiness and capacity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 Quality control and yield assurance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 On-time delivery to TSMC sites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 Continuous improvement on the floor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555F73"/>
                </a:solidFill>
                <a:latin typeface="Calibri"/>
              </a:rPr>
              <a:t>© 2026 Eaton. All rights reserved.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0B2C5C"/>
                </a:solidFill>
                <a:latin typeface="Calibri"/>
              </a:rPr>
              <a:t>Core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F73"/>
                </a:solidFill>
                <a:latin typeface="Calibri"/>
              </a:rPr>
              <a:t>Enable &amp; Support — the engine behind every commitment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1097280" cy="54864"/>
          </a:xfrm>
          <a:prstGeom prst="rect">
            <a:avLst/>
          </a:prstGeom>
          <a:solidFill>
            <a:srgbClr val="12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32588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3727" y="1783080"/>
            <a:ext cx="3505200" cy="6400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727" y="1874520"/>
            <a:ext cx="3505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APAC R&amp;D Service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3727" y="2423160"/>
            <a:ext cx="3505200" cy="3840480"/>
          </a:xfrm>
          <a:prstGeom prst="rect">
            <a:avLst/>
          </a:prstGeom>
          <a:solidFill>
            <a:srgbClr val="E9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327" y="2606040"/>
            <a:ext cx="3048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E6FB8"/>
                </a:solidFill>
                <a:latin typeface="Calibri"/>
              </a:rPr>
              <a:t>Engineering Enablement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3108960"/>
            <a:ext cx="3048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 Localized design &amp; customization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 Application engineering for TSMC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 Roadmap alignment with customer needs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247" y="1783080"/>
            <a:ext cx="3505200" cy="6400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247" y="1874520"/>
            <a:ext cx="3505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Technical Support Team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247" y="2423160"/>
            <a:ext cx="3505200" cy="3840480"/>
          </a:xfrm>
          <a:prstGeom prst="rect">
            <a:avLst/>
          </a:prstGeom>
          <a:solidFill>
            <a:srgbClr val="E9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1847" y="2606040"/>
            <a:ext cx="3048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E6FB8"/>
                </a:solidFill>
                <a:latin typeface="Calibri"/>
              </a:rPr>
              <a:t>Expert Response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1847" y="3108960"/>
            <a:ext cx="3048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 24×7 escalation and troubleshooting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 Field service &amp; commissioning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 Knowledge base and training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2767" y="1783080"/>
            <a:ext cx="3505200" cy="6400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2767" y="1874520"/>
            <a:ext cx="3505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SCM Team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2767" y="2423160"/>
            <a:ext cx="3505200" cy="3840480"/>
          </a:xfrm>
          <a:prstGeom prst="rect">
            <a:avLst/>
          </a:prstGeom>
          <a:solidFill>
            <a:srgbClr val="E9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1367" y="2606040"/>
            <a:ext cx="3048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E6FB8"/>
                </a:solidFill>
                <a:latin typeface="Calibri"/>
              </a:rPr>
              <a:t>Supply Continuity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367" y="3108960"/>
            <a:ext cx="3048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 Material planning and forecasting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 Supplier quality and sourcing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 Logistics and on-time fulfillment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555F73"/>
                </a:solidFill>
                <a:latin typeface="Calibri"/>
              </a:rPr>
              <a:t>© 2026 Eaton. All rights reserved.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0B2C5C"/>
                </a:solidFill>
                <a:latin typeface="Calibri"/>
              </a:rPr>
              <a:t>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F73"/>
                </a:solidFill>
                <a:latin typeface="Calibri"/>
              </a:rPr>
              <a:t>Connect &amp; Serve · Create Customer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1097280" cy="54864"/>
          </a:xfrm>
          <a:prstGeom prst="rect">
            <a:avLst/>
          </a:prstGeom>
          <a:solidFill>
            <a:srgbClr val="12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325880"/>
            <a:ext cx="12191695" cy="54864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86687" y="1783080"/>
            <a:ext cx="4572000" cy="64008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6687" y="187452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Customer Service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86687" y="2423160"/>
            <a:ext cx="4572000" cy="3840480"/>
          </a:xfrm>
          <a:prstGeom prst="rect">
            <a:avLst/>
          </a:prstGeom>
          <a:solidFill>
            <a:srgbClr val="E9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15287" y="2606040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4A90D9"/>
                </a:solidFill>
                <a:latin typeface="Calibri"/>
              </a:rPr>
              <a:t>Connect &amp; Serve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287" y="3108960"/>
            <a:ext cx="41148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 Primary interface with TSMC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 Order management and case tracking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 Voice-of-customer feedback loop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 Service-level and satisfaction owner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783080"/>
            <a:ext cx="4572000" cy="64008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187452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Sales Team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2423160"/>
            <a:ext cx="4572000" cy="3840480"/>
          </a:xfrm>
          <a:prstGeom prst="rect">
            <a:avLst/>
          </a:prstGeom>
          <a:solidFill>
            <a:srgbClr val="E9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2606040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4A90D9"/>
                </a:solidFill>
                <a:latin typeface="Calibri"/>
              </a:rPr>
              <a:t>Create Customer Value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3108960"/>
            <a:ext cx="41148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 Account strategy and growth plans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 Commercial negotiation and contracts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 Solution positioning across BUs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 Long-term partnership development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555F73"/>
                </a:solidFill>
                <a:latin typeface="Calibri"/>
              </a:rPr>
              <a:t>© 2026 Eaton. All rights reserved.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0B2C5C"/>
                </a:solidFill>
                <a:latin typeface="Calibri"/>
              </a:rPr>
              <a:t>Global Collaboration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F73"/>
                </a:solidFill>
                <a:latin typeface="Calibri"/>
              </a:rPr>
              <a:t>Five regions, one team for TSMC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1097280" cy="54864"/>
          </a:xfrm>
          <a:prstGeom prst="rect">
            <a:avLst/>
          </a:prstGeom>
          <a:solidFill>
            <a:srgbClr val="12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6587" y="1920240"/>
            <a:ext cx="2057400" cy="16459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6587" y="2084832"/>
            <a:ext cx="2057400" cy="3291840"/>
          </a:xfrm>
          <a:prstGeom prst="rect">
            <a:avLst/>
          </a:prstGeom>
          <a:solidFill>
            <a:srgbClr val="E9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12367" y="2377440"/>
            <a:ext cx="1005840" cy="1005840"/>
          </a:xfrm>
          <a:prstGeom prst="ellipse">
            <a:avLst/>
          </a:prstGeom>
          <a:solidFill>
            <a:srgbClr val="C8102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TW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6587" y="3611880"/>
            <a:ext cx="2057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0B2C5C"/>
                </a:solidFill>
                <a:latin typeface="Calibri"/>
              </a:rPr>
              <a:t>Taiwan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6587" y="3977640"/>
            <a:ext cx="2057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555F73"/>
                </a:solidFill>
                <a:latin typeface="Calibri"/>
              </a:rPr>
              <a:t>(HQ)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5227" y="4343400"/>
            <a:ext cx="960120" cy="9000"/>
          </a:xfrm>
          <a:prstGeom prst="rect">
            <a:avLst/>
          </a:prstGeom>
          <a:solidFill>
            <a:srgbClr val="BFD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747" y="4480560"/>
            <a:ext cx="17830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F2A44"/>
                </a:solidFill>
                <a:latin typeface="Calibri"/>
              </a:rPr>
              <a:t>Project Leadership
&amp; Coordination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26867" y="1920240"/>
            <a:ext cx="2057400" cy="164592"/>
          </a:xfrm>
          <a:prstGeom prst="rect">
            <a:avLst/>
          </a:prstGeom>
          <a:solidFill>
            <a:srgbClr val="BC0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26867" y="2084832"/>
            <a:ext cx="2057400" cy="3291840"/>
          </a:xfrm>
          <a:prstGeom prst="rect">
            <a:avLst/>
          </a:prstGeom>
          <a:solidFill>
            <a:srgbClr val="E9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352647" y="2377440"/>
            <a:ext cx="1005840" cy="1005840"/>
          </a:xfrm>
          <a:prstGeom prst="ellipse">
            <a:avLst/>
          </a:prstGeom>
          <a:solidFill>
            <a:srgbClr val="BC002D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JP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26867" y="3611880"/>
            <a:ext cx="2057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0B2C5C"/>
                </a:solidFill>
                <a:latin typeface="Calibri"/>
              </a:rPr>
              <a:t>Japan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26867" y="3977640"/>
            <a:ext cx="2057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555F73"/>
                </a:solidFill>
                <a:latin typeface="Calibri"/>
              </a:rPr>
              <a:t>(Site)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75507" y="4343400"/>
            <a:ext cx="960120" cy="9000"/>
          </a:xfrm>
          <a:prstGeom prst="rect">
            <a:avLst/>
          </a:prstGeom>
          <a:solidFill>
            <a:srgbClr val="BFD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64027" y="4480560"/>
            <a:ext cx="17830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F2A44"/>
                </a:solidFill>
                <a:latin typeface="Calibri"/>
              </a:rPr>
              <a:t>Advanced Support
&amp; Service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7147" y="1920240"/>
            <a:ext cx="2057400" cy="164592"/>
          </a:xfrm>
          <a:prstGeom prst="rect">
            <a:avLst/>
          </a:prstGeom>
          <a:solidFill>
            <a:srgbClr val="FFC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67147" y="2084832"/>
            <a:ext cx="2057400" cy="3291840"/>
          </a:xfrm>
          <a:prstGeom prst="rect">
            <a:avLst/>
          </a:prstGeom>
          <a:solidFill>
            <a:srgbClr val="E9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592927" y="2377440"/>
            <a:ext cx="1005840" cy="1005840"/>
          </a:xfrm>
          <a:prstGeom prst="ellipse">
            <a:avLst/>
          </a:prstGeom>
          <a:solidFill>
            <a:srgbClr val="FFCE0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67147" y="3611880"/>
            <a:ext cx="2057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0B2C5C"/>
                </a:solidFill>
                <a:latin typeface="Calibri"/>
              </a:rPr>
              <a:t>Germany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67147" y="3977640"/>
            <a:ext cx="2057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555F73"/>
                </a:solidFill>
                <a:latin typeface="Calibri"/>
              </a:rPr>
              <a:t>(Engineering)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15787" y="4343400"/>
            <a:ext cx="960120" cy="9000"/>
          </a:xfrm>
          <a:prstGeom prst="rect">
            <a:avLst/>
          </a:prstGeom>
          <a:solidFill>
            <a:srgbClr val="BFD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04307" y="4480560"/>
            <a:ext cx="17830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F2A44"/>
                </a:solidFill>
                <a:latin typeface="Calibri"/>
              </a:rPr>
              <a:t>Engineering Excellence
&amp; Innovation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07427" y="1920240"/>
            <a:ext cx="2057400" cy="164592"/>
          </a:xfrm>
          <a:prstGeom prst="rect">
            <a:avLst/>
          </a:prstGeom>
          <a:solidFill>
            <a:srgbClr val="3C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07427" y="2084832"/>
            <a:ext cx="2057400" cy="3291840"/>
          </a:xfrm>
          <a:prstGeom prst="rect">
            <a:avLst/>
          </a:prstGeom>
          <a:solidFill>
            <a:srgbClr val="E9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833207" y="2377440"/>
            <a:ext cx="1005840" cy="1005840"/>
          </a:xfrm>
          <a:prstGeom prst="ellipse">
            <a:avLst/>
          </a:prstGeom>
          <a:solidFill>
            <a:srgbClr val="3C3B6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07427" y="3611880"/>
            <a:ext cx="2057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0B2C5C"/>
                </a:solidFill>
                <a:latin typeface="Calibri"/>
              </a:rPr>
              <a:t>USA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07427" y="3977640"/>
            <a:ext cx="2057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555F73"/>
                </a:solidFill>
                <a:latin typeface="Calibri"/>
              </a:rPr>
              <a:t>(Support)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56067" y="4343400"/>
            <a:ext cx="960120" cy="9000"/>
          </a:xfrm>
          <a:prstGeom prst="rect">
            <a:avLst/>
          </a:prstGeom>
          <a:solidFill>
            <a:srgbClr val="BFD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44587" y="4480560"/>
            <a:ext cx="17830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F2A44"/>
                </a:solidFill>
                <a:latin typeface="Calibri"/>
              </a:rPr>
              <a:t>Technical Support
&amp; Solutions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47707" y="1920240"/>
            <a:ext cx="2057400" cy="164592"/>
          </a:xfrm>
          <a:prstGeom prst="rect">
            <a:avLst/>
          </a:prstGeom>
          <a:solidFill>
            <a:srgbClr val="DE29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47707" y="2084832"/>
            <a:ext cx="2057400" cy="3291840"/>
          </a:xfrm>
          <a:prstGeom prst="rect">
            <a:avLst/>
          </a:prstGeom>
          <a:solidFill>
            <a:srgbClr val="E9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73487" y="2377440"/>
            <a:ext cx="1005840" cy="1005840"/>
          </a:xfrm>
          <a:prstGeom prst="ellipse">
            <a:avLst/>
          </a:prstGeom>
          <a:solidFill>
            <a:srgbClr val="DE291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CN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7707" y="3611880"/>
            <a:ext cx="2057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0B2C5C"/>
                </a:solidFill>
                <a:latin typeface="Calibri"/>
              </a:rPr>
              <a:t>China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47707" y="3977640"/>
            <a:ext cx="2057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555F73"/>
                </a:solidFill>
                <a:latin typeface="Calibri"/>
              </a:rPr>
              <a:t>(Manufacturing)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096347" y="4343400"/>
            <a:ext cx="960120" cy="9000"/>
          </a:xfrm>
          <a:prstGeom prst="rect">
            <a:avLst/>
          </a:prstGeom>
          <a:solidFill>
            <a:srgbClr val="BFD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84867" y="4480560"/>
            <a:ext cx="17830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1F2A44"/>
                </a:solidFill>
                <a:latin typeface="Calibri"/>
              </a:rPr>
              <a:t>Manufacturing Support
&amp; Execution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555F73"/>
                </a:solidFill>
                <a:latin typeface="Calibri"/>
              </a:rPr>
              <a:t>© 2026 Eaton. All rights reserved.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0B2C5C"/>
                </a:solidFill>
                <a:latin typeface="Calibri"/>
              </a:rPr>
              <a:t>How We Operate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F73"/>
                </a:solidFill>
                <a:latin typeface="Calibri"/>
              </a:rPr>
              <a:t>Principles that turn structure into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1097280" cy="54864"/>
          </a:xfrm>
          <a:prstGeom prst="rect">
            <a:avLst/>
          </a:prstGeom>
          <a:solidFill>
            <a:srgbClr val="12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567" y="1783080"/>
            <a:ext cx="109728" cy="1920240"/>
          </a:xfrm>
          <a:prstGeom prst="rect">
            <a:avLst/>
          </a:prstGeom>
          <a:solidFill>
            <a:srgbClr val="12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6295" y="1783080"/>
            <a:ext cx="3547872" cy="1920240"/>
          </a:xfrm>
          <a:prstGeom prst="rect">
            <a:avLst/>
          </a:prstGeom>
          <a:solidFill>
            <a:srgbClr val="E9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6607" y="196596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B2C5C"/>
                </a:solidFill>
                <a:latin typeface="Calibri"/>
              </a:rPr>
              <a:t>Customer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607" y="2514600"/>
            <a:ext cx="32004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Every decision starts with TSMC's needs and outcomes.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67047" y="1783080"/>
            <a:ext cx="109728" cy="1920240"/>
          </a:xfrm>
          <a:prstGeom prst="rect">
            <a:avLst/>
          </a:prstGeom>
          <a:solidFill>
            <a:srgbClr val="12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6775" y="1783080"/>
            <a:ext cx="3547872" cy="1920240"/>
          </a:xfrm>
          <a:prstGeom prst="rect">
            <a:avLst/>
          </a:prstGeom>
          <a:solidFill>
            <a:srgbClr val="E9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7087" y="196596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B2C5C"/>
                </a:solidFill>
                <a:latin typeface="Calibri"/>
              </a:rPr>
              <a:t>One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087" y="2514600"/>
            <a:ext cx="32004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Functions act as one organization across regions.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7527" y="1783080"/>
            <a:ext cx="109728" cy="1920240"/>
          </a:xfrm>
          <a:prstGeom prst="rect">
            <a:avLst/>
          </a:prstGeom>
          <a:solidFill>
            <a:srgbClr val="12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17255" y="1783080"/>
            <a:ext cx="3547872" cy="1920240"/>
          </a:xfrm>
          <a:prstGeom prst="rect">
            <a:avLst/>
          </a:prstGeom>
          <a:solidFill>
            <a:srgbClr val="E9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7567" y="196596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B2C5C"/>
                </a:solidFill>
                <a:latin typeface="Calibri"/>
              </a:rPr>
              <a:t>Clear Ownership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7567" y="2514600"/>
            <a:ext cx="32004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Defined roles via Execution / Core Support / Business.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6567" y="3931920"/>
            <a:ext cx="109728" cy="1920240"/>
          </a:xfrm>
          <a:prstGeom prst="rect">
            <a:avLst/>
          </a:prstGeom>
          <a:solidFill>
            <a:srgbClr val="12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6295" y="3931920"/>
            <a:ext cx="3547872" cy="1920240"/>
          </a:xfrm>
          <a:prstGeom prst="rect">
            <a:avLst/>
          </a:prstGeom>
          <a:solidFill>
            <a:srgbClr val="E9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607" y="411480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B2C5C"/>
                </a:solidFill>
                <a:latin typeface="Calibri"/>
              </a:rPr>
              <a:t>Speed with Quality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6607" y="4663440"/>
            <a:ext cx="32004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Fast response, never at the expense of reliability.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67047" y="3931920"/>
            <a:ext cx="109728" cy="1920240"/>
          </a:xfrm>
          <a:prstGeom prst="rect">
            <a:avLst/>
          </a:prstGeom>
          <a:solidFill>
            <a:srgbClr val="12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6775" y="3931920"/>
            <a:ext cx="3547872" cy="1920240"/>
          </a:xfrm>
          <a:prstGeom prst="rect">
            <a:avLst/>
          </a:prstGeom>
          <a:solidFill>
            <a:srgbClr val="E9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7087" y="411480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B2C5C"/>
                </a:solidFill>
                <a:latin typeface="Calibri"/>
              </a:rPr>
              <a:t>Transparent Comms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7087" y="4663440"/>
            <a:ext cx="32004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Single source of truth for status, risks and changes.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07527" y="3931920"/>
            <a:ext cx="109728" cy="1920240"/>
          </a:xfrm>
          <a:prstGeom prst="rect">
            <a:avLst/>
          </a:prstGeom>
          <a:solidFill>
            <a:srgbClr val="12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17255" y="3931920"/>
            <a:ext cx="3547872" cy="1920240"/>
          </a:xfrm>
          <a:prstGeom prst="rect">
            <a:avLst/>
          </a:prstGeom>
          <a:solidFill>
            <a:srgbClr val="E9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27567" y="411480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B2C5C"/>
                </a:solidFill>
                <a:latin typeface="Calibri"/>
              </a:rPr>
              <a:t>Continuous Learning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27567" y="4663440"/>
            <a:ext cx="32004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Lessons captured and shared across the network.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555F73"/>
                </a:solidFill>
                <a:latin typeface="Calibri"/>
              </a:rPr>
              <a:t>© 2026 Eaton. All rights reserved.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12191695" cy="54864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77295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One Team. One Goal.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0"/>
            <a:ext cx="11277295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4A90D9"/>
                </a:solidFill>
                <a:latin typeface="Calibri"/>
              </a:rPr>
              <a:t>Delivering Excellence for TSMC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77295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0">
                <a:solidFill>
                  <a:srgbClr val="BFD8EF"/>
                </a:solidFill>
                <a:latin typeface="Calibri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400800"/>
            <a:ext cx="1219169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BFD8EF"/>
                </a:solidFill>
                <a:latin typeface="Calibri"/>
              </a:rPr>
              <a:t>© 2026 Eaton. All rights reserved.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73152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0B2C5C"/>
                </a:solidFill>
                <a:latin typeface="Calibri"/>
              </a:rPr>
              <a:t>Functional Team Collaboration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41248"/>
            <a:ext cx="6858000" cy="15000"/>
          </a:xfrm>
          <a:prstGeom prst="rect">
            <a:avLst/>
          </a:prstGeom>
          <a:solidFill>
            <a:srgbClr val="0B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686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One Goal – Delivering Excellence for TSMC</a:t>
            </a:r>
          </a:p>
        </p:txBody>
      </p:sp>
      <p:sp>
        <p:nvSpPr>
          <p:cNvPr id="8" name="Oval 7"/>
          <p:cNvSpPr/>
          <p:nvPr/>
        </p:nvSpPr>
        <p:spPr>
          <a:xfrm>
            <a:off x="4221328" y="1783081"/>
            <a:ext cx="3749038" cy="3749038"/>
          </a:xfrm>
          <a:prstGeom prst="ellipse">
            <a:avLst/>
          </a:prstGeom>
          <a:solidFill>
            <a:srgbClr val="BFD8E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ie 8"/>
          <p:cNvSpPr/>
          <p:nvPr/>
        </p:nvSpPr>
        <p:spPr>
          <a:xfrm>
            <a:off x="4221328" y="1783081"/>
            <a:ext cx="3749038" cy="3749038"/>
          </a:xfrm>
          <a:prstGeom prst="pie">
            <a:avLst>
              <a:gd name="adj1" fmla="val -9000000"/>
              <a:gd name="adj2" fmla="val 3000000"/>
            </a:avLst>
          </a:prstGeom>
          <a:solidFill>
            <a:srgbClr val="12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ie 9"/>
          <p:cNvSpPr/>
          <p:nvPr/>
        </p:nvSpPr>
        <p:spPr>
          <a:xfrm>
            <a:off x="4221328" y="1783081"/>
            <a:ext cx="3749038" cy="3749038"/>
          </a:xfrm>
          <a:prstGeom prst="pie">
            <a:avLst>
              <a:gd name="adj1" fmla="val 3000000"/>
              <a:gd name="adj2" fmla="val 15000000"/>
            </a:avLst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ie 10"/>
          <p:cNvSpPr/>
          <p:nvPr/>
        </p:nvSpPr>
        <p:spPr>
          <a:xfrm>
            <a:off x="4221328" y="1783081"/>
            <a:ext cx="3749038" cy="3749038"/>
          </a:xfrm>
          <a:prstGeom prst="pie">
            <a:avLst>
              <a:gd name="adj1" fmla="val 15000000"/>
              <a:gd name="adj2" fmla="val 27000000"/>
            </a:avLst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090007" y="2651760"/>
            <a:ext cx="2011680" cy="2011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27167" y="2788920"/>
            <a:ext cx="1737360" cy="17373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24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E01E1E"/>
                </a:solidFill>
              </a:rPr>
              <a:t>tsmc</a:t>
            </a:r>
          </a:p>
          <a:p>
            <a:pPr algn="ctr"/>
            <a:r>
              <a:rPr sz="1600" b="1">
                <a:solidFill>
                  <a:srgbClr val="0B2C5C"/>
                </a:solidFill>
              </a:rPr>
              <a:t>TSMC</a:t>
            </a:r>
          </a:p>
          <a:p>
            <a:pPr algn="ctr"/>
            <a:r>
              <a:rPr sz="1100">
                <a:solidFill>
                  <a:srgbClr val="0B2C5C"/>
                </a:solidFill>
              </a:rPr>
              <a:t>Project</a:t>
            </a:r>
          </a:p>
          <a:p>
            <a:pPr algn="ctr"/>
            <a:r>
              <a:rPr sz="1100" b="1">
                <a:solidFill>
                  <a:srgbClr val="0B2C5C"/>
                </a:solidFill>
              </a:rPr>
              <a:t>Core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5734" y="2000140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124A9C"/>
                </a:solidFill>
              </a:rPr>
              <a:t>APAC R&amp;D</a:t>
            </a:r>
          </a:p>
          <a:p>
            <a:pPr algn="ctr"/>
            <a:r>
              <a:rPr sz="1000" b="1">
                <a:solidFill>
                  <a:srgbClr val="124A9C"/>
                </a:solidFill>
              </a:rPr>
              <a:t>Service Team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2544" y="1014712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4A90D9"/>
                </a:solidFill>
              </a:rPr>
              <a:t>Technical</a:t>
            </a:r>
          </a:p>
          <a:p>
            <a:pPr algn="ctr"/>
            <a:r>
              <a:rPr sz="1000" b="1">
                <a:solidFill>
                  <a:srgbClr val="4A90D9"/>
                </a:solidFill>
              </a:rPr>
              <a:t>Support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5800" y="2000140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4A90D9"/>
                </a:solidFill>
              </a:rPr>
              <a:t>Customer</a:t>
            </a:r>
          </a:p>
          <a:p>
            <a:pPr algn="ctr"/>
            <a:r>
              <a:rPr sz="1000" b="1">
                <a:solidFill>
                  <a:srgbClr val="4A90D9"/>
                </a:solidFill>
              </a:rPr>
              <a:t>Service</a:t>
            </a:r>
          </a:p>
          <a:p>
            <a:pPr algn="ctr"/>
            <a:r>
              <a:rPr sz="1000" b="1">
                <a:solidFill>
                  <a:srgbClr val="4A90D9"/>
                </a:solidFill>
              </a:rPr>
              <a:t>Team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46867" y="4135055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1E6FB8"/>
                </a:solidFill>
              </a:rPr>
              <a:t>Sales</a:t>
            </a:r>
          </a:p>
          <a:p>
            <a:pPr algn="ctr"/>
            <a:r>
              <a:rPr sz="1000" b="1">
                <a:solidFill>
                  <a:srgbClr val="1E6FB8"/>
                </a:solidFill>
              </a:rPr>
              <a:t>Team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8990" y="5660407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1E6FB8"/>
                </a:solidFill>
              </a:rPr>
              <a:t>SCM 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5734" y="4674979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1E6FB8"/>
                </a:solidFill>
              </a:rPr>
              <a:t>Factory</a:t>
            </a:r>
          </a:p>
          <a:p>
            <a:pPr algn="ctr"/>
            <a:r>
              <a:rPr sz="1000" b="1">
                <a:solidFill>
                  <a:srgbClr val="1E6FB8"/>
                </a:solidFill>
              </a:rPr>
              <a:t>Unit Team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2544" y="5660407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124A9C"/>
                </a:solidFill>
              </a:rPr>
              <a:t>Project</a:t>
            </a:r>
          </a:p>
          <a:p>
            <a:pPr algn="ctr"/>
            <a:r>
              <a:rPr sz="1000" b="1">
                <a:solidFill>
                  <a:srgbClr val="124A9C"/>
                </a:solidFill>
              </a:rPr>
              <a:t>Management</a:t>
            </a:r>
          </a:p>
          <a:p>
            <a:pPr algn="ctr"/>
            <a:r>
              <a:rPr sz="1000" b="1">
                <a:solidFill>
                  <a:srgbClr val="124A9C"/>
                </a:solidFill>
              </a:rPr>
              <a:t>Team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0007" y="1371600"/>
            <a:ext cx="2011680" cy="365760"/>
          </a:xfrm>
          <a:prstGeom prst="roundRect">
            <a:avLst/>
          </a:prstGeom>
          <a:solidFill>
            <a:srgbClr val="0B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CORE 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4247" y="175564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  <a:latin typeface="Calibri"/>
              </a:rPr>
              <a:t>Enable &amp; Support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3383280"/>
            <a:ext cx="1554480" cy="411480"/>
          </a:xfrm>
          <a:prstGeom prst="roundRect">
            <a:avLst/>
          </a:prstGeom>
          <a:solidFill>
            <a:srgbClr val="0B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EXECUTION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" y="3822191"/>
            <a:ext cx="173736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555F73"/>
                </a:solidFill>
                <a:latin typeface="Calibri"/>
              </a:rPr>
              <a:t>Plan &amp; Manage
Deliver &amp; Execute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0" y="3584448"/>
            <a:ext cx="2392528" cy="9000"/>
          </a:xfrm>
          <a:prstGeom prst="rect">
            <a:avLst/>
          </a:prstGeom>
          <a:solidFill>
            <a:srgbClr val="12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157320" y="3529584"/>
            <a:ext cx="128016" cy="128016"/>
          </a:xfrm>
          <a:prstGeom prst="ellipse">
            <a:avLst/>
          </a:prstGeom>
          <a:solidFill>
            <a:srgbClr val="124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362895" y="3383280"/>
            <a:ext cx="1554480" cy="411480"/>
          </a:xfrm>
          <a:prstGeom prst="round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BUSINESS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71455" y="3822191"/>
            <a:ext cx="173736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555F73"/>
                </a:solidFill>
                <a:latin typeface="Calibri"/>
              </a:rPr>
              <a:t>Connect &amp; Serve
Create Customer Value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70366" y="3584448"/>
            <a:ext cx="2392528" cy="900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06358" y="3529584"/>
            <a:ext cx="128016" cy="128016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5577840"/>
            <a:ext cx="11460175" cy="1051560"/>
          </a:xfrm>
          <a:prstGeom prst="rect">
            <a:avLst/>
          </a:prstGeom>
          <a:solidFill>
            <a:srgbClr val="E9F1FA"/>
          </a:solidFill>
          <a:ln w="9525">
            <a:solidFill>
              <a:srgbClr val="BFD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5623560"/>
            <a:ext cx="1146017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B2C5C"/>
                </a:solidFill>
                <a:latin typeface="Calibri"/>
              </a:rPr>
              <a:t>Global Collaboration Network</a:t>
            </a:r>
          </a:p>
        </p:txBody>
      </p:sp>
      <p:sp>
        <p:nvSpPr>
          <p:cNvPr id="33" name="Oval 32"/>
          <p:cNvSpPr/>
          <p:nvPr/>
        </p:nvSpPr>
        <p:spPr>
          <a:xfrm>
            <a:off x="1365473" y="5870448"/>
            <a:ext cx="292608" cy="29260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TW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217920"/>
            <a:ext cx="2292035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0B2C5C"/>
                </a:solidFill>
                <a:latin typeface="Calibri"/>
              </a:rPr>
              <a:t>Taiwan (HQ)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400800"/>
            <a:ext cx="2200595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800" b="0">
                <a:solidFill>
                  <a:srgbClr val="555F73"/>
                </a:solidFill>
                <a:latin typeface="Calibri"/>
              </a:rPr>
              <a:t>Project Leadership
&amp; Coordination</a:t>
            </a:r>
          </a:p>
        </p:txBody>
      </p:sp>
      <p:sp>
        <p:nvSpPr>
          <p:cNvPr id="36" name="Oval 35"/>
          <p:cNvSpPr/>
          <p:nvPr/>
        </p:nvSpPr>
        <p:spPr>
          <a:xfrm>
            <a:off x="3657508" y="5870448"/>
            <a:ext cx="292608" cy="292608"/>
          </a:xfrm>
          <a:prstGeom prst="ellipse">
            <a:avLst/>
          </a:prstGeom>
          <a:solidFill>
            <a:srgbClr val="BC002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JP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57795" y="6217920"/>
            <a:ext cx="2292035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0B2C5C"/>
                </a:solidFill>
                <a:latin typeface="Calibri"/>
              </a:rPr>
              <a:t>Japan (Site)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03515" y="6400800"/>
            <a:ext cx="2200595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800" b="0">
                <a:solidFill>
                  <a:srgbClr val="555F73"/>
                </a:solidFill>
                <a:latin typeface="Calibri"/>
              </a:rPr>
              <a:t>Advanced Support
&amp; Service</a:t>
            </a:r>
          </a:p>
        </p:txBody>
      </p:sp>
      <p:sp>
        <p:nvSpPr>
          <p:cNvPr id="39" name="Oval 38"/>
          <p:cNvSpPr/>
          <p:nvPr/>
        </p:nvSpPr>
        <p:spPr>
          <a:xfrm>
            <a:off x="5949543" y="5870448"/>
            <a:ext cx="292608" cy="292608"/>
          </a:xfrm>
          <a:prstGeom prst="ellipse">
            <a:avLst/>
          </a:prstGeom>
          <a:solidFill>
            <a:srgbClr val="FFCE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49830" y="6217920"/>
            <a:ext cx="2292035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0B2C5C"/>
                </a:solidFill>
                <a:latin typeface="Calibri"/>
              </a:rPr>
              <a:t>Germany (Engineering)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95550" y="6400800"/>
            <a:ext cx="2200595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800" b="0">
                <a:solidFill>
                  <a:srgbClr val="555F73"/>
                </a:solidFill>
                <a:latin typeface="Calibri"/>
              </a:rPr>
              <a:t>Engineering Excellence
&amp; Innovation</a:t>
            </a:r>
          </a:p>
        </p:txBody>
      </p:sp>
      <p:sp>
        <p:nvSpPr>
          <p:cNvPr id="42" name="Oval 41"/>
          <p:cNvSpPr/>
          <p:nvPr/>
        </p:nvSpPr>
        <p:spPr>
          <a:xfrm>
            <a:off x="8241578" y="5870448"/>
            <a:ext cx="292608" cy="292608"/>
          </a:xfrm>
          <a:prstGeom prst="ellipse">
            <a:avLst/>
          </a:prstGeom>
          <a:solidFill>
            <a:srgbClr val="3C3B6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US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41865" y="6217920"/>
            <a:ext cx="2292035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0B2C5C"/>
                </a:solidFill>
                <a:latin typeface="Calibri"/>
              </a:rPr>
              <a:t>USA (Support)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87585" y="6400800"/>
            <a:ext cx="2200595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800" b="0">
                <a:solidFill>
                  <a:srgbClr val="555F73"/>
                </a:solidFill>
                <a:latin typeface="Calibri"/>
              </a:rPr>
              <a:t>Technical Support
&amp; Solutions</a:t>
            </a:r>
          </a:p>
        </p:txBody>
      </p:sp>
      <p:sp>
        <p:nvSpPr>
          <p:cNvPr id="45" name="Oval 44"/>
          <p:cNvSpPr/>
          <p:nvPr/>
        </p:nvSpPr>
        <p:spPr>
          <a:xfrm>
            <a:off x="10533613" y="5870448"/>
            <a:ext cx="292608" cy="292608"/>
          </a:xfrm>
          <a:prstGeom prst="ellipse">
            <a:avLst/>
          </a:prstGeom>
          <a:solidFill>
            <a:srgbClr val="DE291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CN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33900" y="6217920"/>
            <a:ext cx="2292035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0B2C5C"/>
                </a:solidFill>
                <a:latin typeface="Calibri"/>
              </a:rPr>
              <a:t>China (Manufacturing)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79620" y="6400800"/>
            <a:ext cx="2200595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800" b="0">
                <a:solidFill>
                  <a:srgbClr val="555F73"/>
                </a:solidFill>
                <a:latin typeface="Calibri"/>
              </a:rPr>
              <a:t>Manufacturing Support
&amp; Execution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0" y="6492240"/>
            <a:ext cx="12191695" cy="182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555F73"/>
                </a:solidFill>
                <a:latin typeface="Calibri"/>
              </a:rPr>
              <a:t>© 2026 Eaton. All rights reserved.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