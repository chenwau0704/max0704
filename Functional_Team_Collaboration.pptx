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BFD8EF"/>
                </a:solidFill>
                <a:latin typeface="Calibri"/>
              </a:rPr>
              <a:t>EATON × TSMC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BFD8EF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011680"/>
            <a:ext cx="7315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Functional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743200"/>
            <a:ext cx="7315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4A90D9"/>
                </a:solidFill>
                <a:latin typeface="Calibri"/>
              </a:rPr>
              <a:t>Collaboration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703320"/>
            <a:ext cx="1371600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84048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BFD8EF"/>
                </a:solidFill>
                <a:latin typeface="Calibri"/>
              </a:rPr>
              <a:t>One Goal — Delivering Excellence for TSMC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BFD8EF"/>
                </a:solidFill>
                <a:latin typeface="Calibri"/>
              </a:rPr>
              <a:t>© 2026 Eaton.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B2C5C"/>
                </a:solidFill>
                <a:latin typeface="Calibri"/>
              </a:rPr>
              <a:t>Our Shared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5F73"/>
                </a:solidFill>
                <a:latin typeface="Calibri"/>
              </a:rPr>
              <a:t>Aligning every function around a single customer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28016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3200" b="1">
                <a:solidFill>
                  <a:srgbClr val="0B2C5C"/>
                </a:solidFill>
              </a:rPr>
              <a:t>Delivering Excellence for TSMC</a:t>
            </a:r>
          </a:p>
          <a:p>
            <a:pPr algn="ctr"/>
            <a:r>
              <a:rPr sz="1600">
                <a:solidFill>
                  <a:srgbClr val="555F73"/>
                </a:solidFill>
              </a:rPr>
              <a:t>through cross-functional collaboration, global reach, and customer-centric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3566160" cy="640080"/>
          </a:xfrm>
          <a:prstGeom prst="round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555F73"/>
                </a:solidFill>
                <a:latin typeface="Calibri"/>
              </a:rPr>
              <a:t>Plan &amp; Manage · Deliver &amp; Execute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383280"/>
            <a:ext cx="3566160" cy="64008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CORE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11480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555F73"/>
                </a:solidFill>
                <a:latin typeface="Calibri"/>
              </a:rPr>
              <a:t>Enable &amp;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3383280"/>
            <a:ext cx="3566160" cy="64008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411480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555F73"/>
                </a:solidFill>
                <a:latin typeface="Calibri"/>
              </a:rPr>
              <a:t>Connect &amp; Serve · Create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Calibri"/>
              </a:rPr>
              <a:t>Agenda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285232"/>
            <a:ext cx="731520" cy="36576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1.  Three Pillars of Collaboration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4406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2.  Project Core Team &amp; Surrounding Functions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3.  Global Collaboration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80644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4.  Operating Principles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5F73"/>
                </a:solidFill>
                <a:latin typeface="Calibri"/>
              </a:rPr>
              <a:t>© 2026 Eaton.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B2C5C"/>
                </a:solidFill>
                <a:latin typeface="Calibri"/>
              </a:rPr>
              <a:t>Three Pillars of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5F73"/>
                </a:solidFill>
                <a:latin typeface="Calibri"/>
              </a:rPr>
              <a:t>How every team contributes to the shared goal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749039" cy="502920"/>
          </a:xfrm>
          <a:prstGeom prst="round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F73"/>
                </a:solidFill>
                <a:latin typeface="Calibri"/>
              </a:rPr>
              <a:t>Plan &amp; Manage  ·  Deliver &amp; Execute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51760"/>
            <a:ext cx="3749039" cy="4206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329183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24A9C"/>
                </a:solidFill>
                <a:latin typeface="Calibri"/>
              </a:rPr>
              <a:t>Project Management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3291839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End-to-end planning, scheduling, risk 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3291839" cy="9000"/>
          </a:xfrm>
          <a:prstGeom prst="rect">
            <a:avLst/>
          </a:prstGeom>
          <a:solidFill>
            <a:srgbClr val="BFD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29183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24A9C"/>
                </a:solidFill>
                <a:latin typeface="Calibri"/>
              </a:rPr>
              <a:t>Factory Unit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3291839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Production readiness and on-site 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19" y="1691640"/>
            <a:ext cx="3749039" cy="50292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CORE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24028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F73"/>
                </a:solidFill>
                <a:latin typeface="Calibri"/>
              </a:rPr>
              <a:t>Enable &amp;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19" y="2651760"/>
            <a:ext cx="3749039" cy="4206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19" y="2880360"/>
            <a:ext cx="329183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E6FB8"/>
                </a:solidFill>
                <a:latin typeface="Calibri"/>
              </a:rPr>
              <a:t>APAC R&amp;D Service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3246120"/>
            <a:ext cx="3291839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Engineering design and product enablement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19" y="4023360"/>
            <a:ext cx="3291839" cy="9000"/>
          </a:xfrm>
          <a:prstGeom prst="rect">
            <a:avLst/>
          </a:prstGeom>
          <a:solidFill>
            <a:srgbClr val="BFD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19" y="4206240"/>
            <a:ext cx="329183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E6FB8"/>
                </a:solidFill>
                <a:latin typeface="Calibri"/>
              </a:rPr>
              <a:t>Technical Support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19" y="4572000"/>
            <a:ext cx="3291839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On-call expertise and troubleshooting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19" y="5349240"/>
            <a:ext cx="3291839" cy="9000"/>
          </a:xfrm>
          <a:prstGeom prst="rect">
            <a:avLst/>
          </a:prstGeom>
          <a:solidFill>
            <a:srgbClr val="BFD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19" y="5532120"/>
            <a:ext cx="329183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E6FB8"/>
                </a:solidFill>
                <a:latin typeface="Calibri"/>
              </a:rPr>
              <a:t>SCM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5897880"/>
            <a:ext cx="3291839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Supply continuity and material readiness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18" y="1691640"/>
            <a:ext cx="3749039" cy="50292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8" y="224028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F73"/>
                </a:solidFill>
                <a:latin typeface="Calibri"/>
              </a:rPr>
              <a:t>Connect &amp; Serve  ·  Create Customer 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8" y="2651760"/>
            <a:ext cx="3749039" cy="4206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8" y="2880360"/>
            <a:ext cx="329183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4A90D9"/>
                </a:solidFill>
                <a:latin typeface="Calibri"/>
              </a:rPr>
              <a:t>Customer Service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8" y="3246120"/>
            <a:ext cx="3291839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Single point of contact for TSMC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18" y="4023360"/>
            <a:ext cx="3291839" cy="9000"/>
          </a:xfrm>
          <a:prstGeom prst="rect">
            <a:avLst/>
          </a:prstGeom>
          <a:solidFill>
            <a:srgbClr val="BFD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18" y="4206240"/>
            <a:ext cx="329183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4A90D9"/>
                </a:solidFill>
                <a:latin typeface="Calibri"/>
              </a:rPr>
              <a:t>Sales Team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8" y="4572000"/>
            <a:ext cx="3291839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Account growth and value creation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5F73"/>
                </a:solidFill>
                <a:latin typeface="Calibri"/>
              </a:rPr>
              <a:t>© 2026 Eaton.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B2C5C"/>
                </a:solidFill>
                <a:latin typeface="Calibri"/>
              </a:rPr>
              <a:t>TSMC Project Core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5F73"/>
                </a:solidFill>
                <a:latin typeface="Calibri"/>
              </a:rPr>
              <a:t>Seven functions orbiting one customer 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901287" y="1828800"/>
            <a:ext cx="4389120" cy="4389120"/>
          </a:xfrm>
          <a:prstGeom prst="ellipse">
            <a:avLst/>
          </a:prstGeom>
          <a:solidFill>
            <a:srgbClr val="BFD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90007" y="3017520"/>
            <a:ext cx="2011680" cy="2011680"/>
          </a:xfrm>
          <a:prstGeom prst="ellipse">
            <a:avLst/>
          </a:prstGeom>
          <a:solidFill>
            <a:srgbClr val="124A9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TSMC</a:t>
            </a:r>
          </a:p>
          <a:p>
            <a:pPr algn="ctr"/>
            <a:r>
              <a:rPr sz="1200">
                <a:solidFill>
                  <a:srgbClr val="BFD8EF"/>
                </a:solidFill>
              </a:rPr>
              <a:t>Project Core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18607" y="937260"/>
            <a:ext cx="1554480" cy="77724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Project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Management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7582" y="1952888"/>
            <a:ext cx="1554480" cy="77724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APAC R&amp;D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Service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8456" y="4234985"/>
            <a:ext cx="1554480" cy="77724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Technical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Support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9000" y="6065085"/>
            <a:ext cx="1554480" cy="77724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Customer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Service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8214" y="6065085"/>
            <a:ext cx="1554480" cy="77724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Sales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88758" y="4234985"/>
            <a:ext cx="1554480" cy="77724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Factory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Unit Team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9632" y="1952888"/>
            <a:ext cx="1554480" cy="77724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SCM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017520"/>
            <a:ext cx="1828800" cy="502920"/>
          </a:xfrm>
          <a:prstGeom prst="round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566160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F73"/>
                </a:solidFill>
                <a:latin typeface="Calibri"/>
              </a:rPr>
              <a:t>Plan &amp; Manage
Deliver &amp; Execute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97135" y="3017520"/>
            <a:ext cx="1828800" cy="50292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7135" y="3566160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F73"/>
                </a:solidFill>
                <a:latin typeface="Calibri"/>
              </a:rPr>
              <a:t>Connect &amp; Serve
Create Customer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90007" y="1600200"/>
            <a:ext cx="2011680" cy="457200"/>
          </a:xfrm>
          <a:prstGeom prst="round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CORE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4247" y="20574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F73"/>
                </a:solidFill>
                <a:latin typeface="Calibri"/>
              </a:rPr>
              <a:t>Enable &amp;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5F73"/>
                </a:solidFill>
                <a:latin typeface="Calibri"/>
              </a:rPr>
              <a:t>© 2026 Eaton.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B2C5C"/>
                </a:solidFill>
                <a:latin typeface="Calibri"/>
              </a:rP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5F73"/>
                </a:solidFill>
                <a:latin typeface="Calibri"/>
              </a:rPr>
              <a:t>Plan &amp; Manage · Deliver &amp; Execute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86687" y="1783080"/>
            <a:ext cx="4572000" cy="640080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6687" y="187452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Project Management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86687" y="2423160"/>
            <a:ext cx="4572000" cy="38404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5287" y="260604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24A9C"/>
                </a:solidFill>
                <a:latin typeface="Calibri"/>
              </a:rPr>
              <a:t>Plan &amp; Manage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287" y="310896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Owns master schedule and milestones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Cross-functional coordination &amp; RACI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Risk, change and issue management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Single source of truth for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4572000" cy="640080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87452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Factory Unit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2423160"/>
            <a:ext cx="4572000" cy="38404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260604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24A9C"/>
                </a:solidFill>
                <a:latin typeface="Calibri"/>
              </a:rPr>
              <a:t>Deliver &amp; 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10896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Production readiness and capacity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Quality control and yield assurance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On-time delivery to TSMC sites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Continuous improvement on the 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5F73"/>
                </a:solidFill>
                <a:latin typeface="Calibri"/>
              </a:rPr>
              <a:t>© 2026 Eaton.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B2C5C"/>
                </a:solidFill>
                <a:latin typeface="Calibri"/>
              </a:rPr>
              <a:t>Core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5F73"/>
                </a:solidFill>
                <a:latin typeface="Calibri"/>
              </a:rPr>
              <a:t>Enable &amp; Support — the engine behind every commitment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3727" y="1783080"/>
            <a:ext cx="3505200" cy="6400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727" y="1874520"/>
            <a:ext cx="350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APAC R&amp;D Service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727" y="2423160"/>
            <a:ext cx="3505200" cy="38404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327" y="2606040"/>
            <a:ext cx="304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E6FB8"/>
                </a:solidFill>
                <a:latin typeface="Calibri"/>
              </a:rPr>
              <a:t>Engineering Enablement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327" y="3108960"/>
            <a:ext cx="3048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Localized design &amp; customization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Application engineering for TSMC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Roadmap alignment with customer needs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247" y="1783080"/>
            <a:ext cx="3505200" cy="6400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247" y="1874520"/>
            <a:ext cx="350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Technical Support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247" y="2423160"/>
            <a:ext cx="3505200" cy="38404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847" y="2606040"/>
            <a:ext cx="304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E6FB8"/>
                </a:solidFill>
                <a:latin typeface="Calibri"/>
              </a:rPr>
              <a:t>Expert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847" y="3108960"/>
            <a:ext cx="3048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24×7 escalation and troubleshooting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Field service &amp; commissioning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Knowledge base and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2767" y="1783080"/>
            <a:ext cx="3505200" cy="6400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2767" y="1874520"/>
            <a:ext cx="350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SCM Team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2767" y="2423160"/>
            <a:ext cx="3505200" cy="38404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1367" y="2606040"/>
            <a:ext cx="304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E6FB8"/>
                </a:solidFill>
                <a:latin typeface="Calibri"/>
              </a:rPr>
              <a:t>Supply Continuity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367" y="3108960"/>
            <a:ext cx="3048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Material planning and forecasting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Supplier quality and sourcing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Logistics and on-time fulfillment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5F73"/>
                </a:solidFill>
                <a:latin typeface="Calibri"/>
              </a:rPr>
              <a:t>© 2026 Eaton.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B2C5C"/>
                </a:solidFill>
                <a:latin typeface="Calibri"/>
              </a:rPr>
              <a:t>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5F73"/>
                </a:solidFill>
                <a:latin typeface="Calibri"/>
              </a:rPr>
              <a:t>Connect &amp; Serve · Create Customer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86687" y="1783080"/>
            <a:ext cx="4572000" cy="6400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6687" y="187452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Customer Service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86687" y="2423160"/>
            <a:ext cx="4572000" cy="38404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5287" y="260604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4A90D9"/>
                </a:solidFill>
                <a:latin typeface="Calibri"/>
              </a:rPr>
              <a:t>Connect &amp;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287" y="310896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Primary interface with TSMC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Order management and case tracking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Voice-of-customer feedback loop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Service-level and satisfaction 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4572000" cy="6400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87452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Sales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2423160"/>
            <a:ext cx="4572000" cy="38404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260604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4A90D9"/>
                </a:solidFill>
                <a:latin typeface="Calibri"/>
              </a:rPr>
              <a:t>Create Customer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10896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Account strategy and growth plans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Commercial negotiation and contracts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Solution positioning across BUs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A44"/>
                </a:solidFill>
              </a:rPr>
              <a:t>•  Long-term partnership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5F73"/>
                </a:solidFill>
                <a:latin typeface="Calibri"/>
              </a:rPr>
              <a:t>© 2026 Eaton.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B2C5C"/>
                </a:solidFill>
                <a:latin typeface="Calibri"/>
              </a:rPr>
              <a:t>Global Collaboration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5F73"/>
                </a:solidFill>
                <a:latin typeface="Calibri"/>
              </a:rPr>
              <a:t>Five regions, one team for TSMC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6587" y="1920240"/>
            <a:ext cx="2057400" cy="1645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6587" y="2084832"/>
            <a:ext cx="2057400" cy="32918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2367" y="2377440"/>
            <a:ext cx="1005840" cy="1005840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TW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587" y="3611880"/>
            <a:ext cx="2057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B2C5C"/>
                </a:solidFill>
                <a:latin typeface="Calibri"/>
              </a:rPr>
              <a:t>Taiwan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587" y="3977640"/>
            <a:ext cx="2057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F73"/>
                </a:solidFill>
                <a:latin typeface="Calibri"/>
              </a:rPr>
              <a:t>(HQ)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5227" y="4343400"/>
            <a:ext cx="960120" cy="9000"/>
          </a:xfrm>
          <a:prstGeom prst="rect">
            <a:avLst/>
          </a:prstGeom>
          <a:solidFill>
            <a:srgbClr val="BFD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747" y="4480560"/>
            <a:ext cx="17830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Calibri"/>
              </a:rPr>
              <a:t>Project Leadership
&amp; Coordination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6867" y="1920240"/>
            <a:ext cx="2057400" cy="164592"/>
          </a:xfrm>
          <a:prstGeom prst="rect">
            <a:avLst/>
          </a:prstGeom>
          <a:solidFill>
            <a:srgbClr val="BC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6867" y="2084832"/>
            <a:ext cx="2057400" cy="32918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52647" y="2377440"/>
            <a:ext cx="1005840" cy="1005840"/>
          </a:xfrm>
          <a:prstGeom prst="ellipse">
            <a:avLst/>
          </a:prstGeom>
          <a:solidFill>
            <a:srgbClr val="BC002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JP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6867" y="3611880"/>
            <a:ext cx="2057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B2C5C"/>
                </a:solidFill>
                <a:latin typeface="Calibri"/>
              </a:rPr>
              <a:t>Japan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6867" y="3977640"/>
            <a:ext cx="2057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F73"/>
                </a:solidFill>
                <a:latin typeface="Calibri"/>
              </a:rPr>
              <a:t>(Site)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5507" y="4343400"/>
            <a:ext cx="960120" cy="9000"/>
          </a:xfrm>
          <a:prstGeom prst="rect">
            <a:avLst/>
          </a:prstGeom>
          <a:solidFill>
            <a:srgbClr val="BFD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64027" y="4480560"/>
            <a:ext cx="17830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Calibri"/>
              </a:rPr>
              <a:t>Advanced Support
&amp; 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67147" y="1920240"/>
            <a:ext cx="2057400" cy="164592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7147" y="2084832"/>
            <a:ext cx="2057400" cy="32918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2927" y="2377440"/>
            <a:ext cx="1005840" cy="1005840"/>
          </a:xfrm>
          <a:prstGeom prst="ellipse">
            <a:avLst/>
          </a:prstGeom>
          <a:solidFill>
            <a:srgbClr val="FFCE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7147" y="3611880"/>
            <a:ext cx="2057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B2C5C"/>
                </a:solidFill>
                <a:latin typeface="Calibri"/>
              </a:rPr>
              <a:t>Germany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7147" y="3977640"/>
            <a:ext cx="2057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F73"/>
                </a:solidFill>
                <a:latin typeface="Calibri"/>
              </a:rPr>
              <a:t>(Engineering)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15787" y="4343400"/>
            <a:ext cx="960120" cy="9000"/>
          </a:xfrm>
          <a:prstGeom prst="rect">
            <a:avLst/>
          </a:prstGeom>
          <a:solidFill>
            <a:srgbClr val="BFD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4307" y="4480560"/>
            <a:ext cx="17830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Calibri"/>
              </a:rPr>
              <a:t>Engineering Excellence
&amp; Innovation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07427" y="1920240"/>
            <a:ext cx="2057400" cy="164592"/>
          </a:xfrm>
          <a:prstGeom prst="rect">
            <a:avLst/>
          </a:prstGeom>
          <a:solidFill>
            <a:srgbClr val="3C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07427" y="2084832"/>
            <a:ext cx="2057400" cy="32918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33207" y="2377440"/>
            <a:ext cx="1005840" cy="1005840"/>
          </a:xfrm>
          <a:prstGeom prst="ellipse">
            <a:avLst/>
          </a:prstGeom>
          <a:solidFill>
            <a:srgbClr val="3C3B6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7427" y="3611880"/>
            <a:ext cx="2057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B2C5C"/>
                </a:solidFill>
                <a:latin typeface="Calibri"/>
              </a:rPr>
              <a:t>USA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7427" y="3977640"/>
            <a:ext cx="2057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F73"/>
                </a:solidFill>
                <a:latin typeface="Calibri"/>
              </a:rPr>
              <a:t>(Support)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56067" y="4343400"/>
            <a:ext cx="960120" cy="9000"/>
          </a:xfrm>
          <a:prstGeom prst="rect">
            <a:avLst/>
          </a:prstGeom>
          <a:solidFill>
            <a:srgbClr val="BFD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44587" y="4480560"/>
            <a:ext cx="17830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Calibri"/>
              </a:rPr>
              <a:t>Technical Support
&amp; Solutions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47707" y="1920240"/>
            <a:ext cx="2057400" cy="164592"/>
          </a:xfrm>
          <a:prstGeom prst="rect">
            <a:avLst/>
          </a:prstGeom>
          <a:solidFill>
            <a:srgbClr val="DE2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47707" y="2084832"/>
            <a:ext cx="2057400" cy="32918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3487" y="2377440"/>
            <a:ext cx="1005840" cy="1005840"/>
          </a:xfrm>
          <a:prstGeom prst="ellipse">
            <a:avLst/>
          </a:prstGeom>
          <a:solidFill>
            <a:srgbClr val="DE291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7707" y="3611880"/>
            <a:ext cx="2057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B2C5C"/>
                </a:solidFill>
                <a:latin typeface="Calibri"/>
              </a:rPr>
              <a:t>China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47707" y="3977640"/>
            <a:ext cx="2057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F73"/>
                </a:solidFill>
                <a:latin typeface="Calibri"/>
              </a:rPr>
              <a:t>(Manufacturing)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96347" y="4343400"/>
            <a:ext cx="960120" cy="9000"/>
          </a:xfrm>
          <a:prstGeom prst="rect">
            <a:avLst/>
          </a:prstGeom>
          <a:solidFill>
            <a:srgbClr val="BFD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84867" y="4480560"/>
            <a:ext cx="17830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Calibri"/>
              </a:rPr>
              <a:t>Manufacturing Support
&amp; Execution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5F73"/>
                </a:solidFill>
                <a:latin typeface="Calibri"/>
              </a:rPr>
              <a:t>© 2026 Eaton.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B2C5C"/>
                </a:solidFill>
                <a:latin typeface="Calibri"/>
              </a:rPr>
              <a:t>How We Operate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555F73"/>
                </a:solidFill>
                <a:latin typeface="Calibri"/>
              </a:rPr>
              <a:t>Principles that turn structure into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0" cy="54864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567" y="1783080"/>
            <a:ext cx="109728" cy="1920240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6295" y="1783080"/>
            <a:ext cx="3547872" cy="1920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607" y="19659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C5C"/>
                </a:solidFill>
                <a:latin typeface="Calibri"/>
              </a:rPr>
              <a:t>Customer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2514600"/>
            <a:ext cx="3200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Every decision starts with TSMC's needs and outcomes.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047" y="1783080"/>
            <a:ext cx="109728" cy="1920240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6775" y="1783080"/>
            <a:ext cx="3547872" cy="1920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7087" y="19659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C5C"/>
                </a:solidFill>
                <a:latin typeface="Calibri"/>
              </a:rPr>
              <a:t>One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087" y="2514600"/>
            <a:ext cx="3200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Functions act as one organization across regions.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527" y="1783080"/>
            <a:ext cx="109728" cy="1920240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7255" y="1783080"/>
            <a:ext cx="3547872" cy="1920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7567" y="19659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C5C"/>
                </a:solidFill>
                <a:latin typeface="Calibri"/>
              </a:rPr>
              <a:t>Clear Ownership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7567" y="2514600"/>
            <a:ext cx="3200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Defined roles via Execution / Core Support / Business.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567" y="3931920"/>
            <a:ext cx="109728" cy="1920240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6295" y="3931920"/>
            <a:ext cx="3547872" cy="1920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607" y="41148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C5C"/>
                </a:solidFill>
                <a:latin typeface="Calibri"/>
              </a:rPr>
              <a:t>Speed with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607" y="4663440"/>
            <a:ext cx="3200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Fast response, never at the expense of reliability.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047" y="3931920"/>
            <a:ext cx="109728" cy="1920240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6775" y="3931920"/>
            <a:ext cx="3547872" cy="1920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7087" y="41148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C5C"/>
                </a:solidFill>
                <a:latin typeface="Calibri"/>
              </a:rPr>
              <a:t>Transparent Comms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7087" y="4663440"/>
            <a:ext cx="3200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Single source of truth for status, risks and changes.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7527" y="3931920"/>
            <a:ext cx="109728" cy="1920240"/>
          </a:xfrm>
          <a:prstGeom prst="rect">
            <a:avLst/>
          </a:prstGeom>
          <a:solidFill>
            <a:srgbClr val="12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17255" y="3931920"/>
            <a:ext cx="3547872" cy="1920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7567" y="41148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C5C"/>
                </a:solidFill>
                <a:latin typeface="Calibri"/>
              </a:rPr>
              <a:t>Continuous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7567" y="4663440"/>
            <a:ext cx="3200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Lessons captured and shared across the network.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5F73"/>
                </a:solidFill>
                <a:latin typeface="Calibri"/>
              </a:rPr>
              <a:t>© 2026 Eaton.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One Team. One Goal.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0">
                <a:solidFill>
                  <a:srgbClr val="4A90D9"/>
                </a:solidFill>
                <a:latin typeface="Calibri"/>
              </a:rPr>
              <a:t>Delivering Excellence for TSMC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7729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BFD8E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BFD8EF"/>
                </a:solidFill>
                <a:latin typeface="Calibri"/>
              </a:rPr>
              <a:t>© 2026 Eaton.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